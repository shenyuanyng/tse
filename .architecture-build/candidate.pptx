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4767a5021a46c4" /><Relationship Type="http://schemas.openxmlformats.org/officeDocument/2006/relationships/extended-properties" Target="/docProps/app.xml" Id="R30e570e6517d41b9" /><Relationship Type="http://schemas.openxmlformats.org/officeDocument/2006/relationships/officeDocument" Target="/ppt/presentation.xml" Id="Rc72c4925949a43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1f0531d14b4ff4"/>
  </p:sldMasterIdLst>
  <p:notesMasterIdLst>
    <p:notesMasterId xmlns:r="http://schemas.openxmlformats.org/officeDocument/2006/relationships" r:id="R910255e5cb374a1b"/>
  </p:notesMasterIdLst>
  <p:sldIdLst>
    <p:sldId xmlns:r="http://schemas.openxmlformats.org/officeDocument/2006/relationships" id="256" r:id="Rbd6e4ffd763c44cc"/>
  </p:sldIdLst>
  <p:sldSz cx="13716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50101ecbd047dd" /><Relationship Type="http://schemas.openxmlformats.org/officeDocument/2006/relationships/slideMaster" Target="/ppt/slideMasters/slideMaster1.xml" Id="R241f0531d14b4ff4" /><Relationship Type="http://schemas.openxmlformats.org/officeDocument/2006/relationships/notesMaster" Target="/ppt/notesMasters/notesMaster1.xml" Id="R910255e5cb374a1b" /><Relationship Type="http://schemas.openxmlformats.org/officeDocument/2006/relationships/presProps" Target="/ppt/presProps.xml" Id="R8d40b9e23f0f48b6" /><Relationship Type="http://schemas.openxmlformats.org/officeDocument/2006/relationships/tableStyles" Target="/ppt/tableStyles.xml" Id="R25df52da4fc64f7e" /><Relationship Type="http://schemas.openxmlformats.org/officeDocument/2006/relationships/slide" Target="/ppt/slides/slide1.xml" Id="Rbd6e4ffd763c44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18b566090e4a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924d1126a54239" /><Relationship Type="http://schemas.openxmlformats.org/officeDocument/2006/relationships/notesMaster" Target="/ppt/notesMasters/notesMaster1.xml" Id="R62697cabe0724a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verified against nets/audioset_crnn.py and current run.sh configuration. Front end: datasets/audioset_logmel_dataset.py and README.md. Default channels [32,64,96], 2-layer bidirectional GRU with hidden size 128 per direction, embedding dimension 128, dropout 0.2. CNN tensors [B,1,T,64] -&gt; [B,32,T,32] -&gt; [B,64,T,16] -&gt; [B,96,T,8]. Frequency mean yields [B,96,T], then transpose [B,T,96]. Packed sequences use valid lengths. Frame logits have shape [B,T]; sigmoid yields conditional probabilities. frame_mask excludes batch padding. Training uses real strong annotations and masked balanced BCE, omitted from this forward architecture diagram. Class conditions are single-class one-hot vectors, not multi-hot vectors. B=batch size, T=number of frames. Reference image used for black/white/gray layout and module expansion style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e7559ce5994d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0e0fe48b664a5a" /><Relationship Type="http://schemas.openxmlformats.org/officeDocument/2006/relationships/slideLayout" Target="/ppt/slideLayouts/slideLayout1.xml" Id="Rf6a160a48df645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a160a48df645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06cec4cc04b26" /><Relationship Type="http://schemas.openxmlformats.org/officeDocument/2006/relationships/notesSlide" Target="/ppt/notesSlides/notesSlide1.xml" Id="Ra7ec9389098443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5483CC-E48B-4F19-8909-23A6F8B3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0955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Target-class conditioned CRNN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80D06-A341-4813-B577-EF0F2452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0"/>
            <a:ext cx="12954000" cy="676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8AF32-A6BD-4CA5-81D1-D4D7ADA4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00525"/>
            <a:ext cx="5048250" cy="383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BB8137-F068-4047-9DB1-AFE231E3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66775"/>
            <a:ext cx="4572000" cy="504825"/>
          </a:xfrm>
          <a:prstGeom xmlns:a="http://schemas.openxmlformats.org/drawingml/2006/main" prst="roundRect">
            <a:avLst>
              <a:gd name="adj" fmla="val 188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Target-class frame probabilities  [B, T]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A1F99-6609-4C1A-886D-3D655003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52600"/>
            <a:ext cx="45720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Linear 256 → 1  +  Sigmoid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8E60E-2EE5-43B4-A71A-32CADD26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76525"/>
            <a:ext cx="45720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Condition fusion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[B, T, 384] → [B, T, 256]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339ED-6186-47C3-825B-62D85C3C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05225"/>
            <a:ext cx="45720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Concatenate  [B, T, 384]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015CB-8CA2-4B39-B93B-E6C4AA99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45720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LayerNorm  [B, T, 256]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3006F-CD61-402A-8AA8-C0569A96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8300"/>
            <a:ext cx="45720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2-layer BiGRU  (128 / direction)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[B, T, 256]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B3323-E584-403A-8ED3-E1C8902D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477000"/>
            <a:ext cx="45720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Frequency mean + Transpose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[B, T, 96]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A1DC02-0DF8-4B16-90CD-311737E3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7400925"/>
            <a:ext cx="45720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 × ConvFrequencyBlock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A81E8D-D7AC-4F92-A425-75688C6A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667750"/>
            <a:ext cx="4572000" cy="5334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Log-Mel  [B, T, 64]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3C2C8-D9AE-460D-AF0A-7156BF9D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724900"/>
            <a:ext cx="1571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Waveform 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26633-0730-4EF9-A8ED-4BFAE312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8524875"/>
            <a:ext cx="2047875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MelSpectrogram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+ natural log</a:t>
            </a:r>
          </a:p>
        </p:txBody>
      </p:sp>
      <p:cxnSp>
        <p:nvCxnSpPr>
          <p:cNvPr id="7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047875" y="8905875"/>
            <a:ext cx="142875" cy="28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71" name=""/>
          <p:cNvCxnSpPr>
            <a:stCxn xmlns:a="http://schemas.openxmlformats.org/drawingml/2006/main" id="14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238625" y="8905875"/>
            <a:ext cx="333375" cy="28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72" name=""/>
          <p:cNvCxnSpPr>
            <a:stCxn xmlns:a="http://schemas.openxmlformats.org/drawingml/2006/main" id="12" idx="0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6858000" y="7915275"/>
            <a:ext cx="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73" name=""/>
          <p:cNvCxnSpPr>
            <a:stCxn xmlns:a="http://schemas.openxmlformats.org/drawingml/2006/main" id="11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6858000" y="7124700"/>
            <a:ext cx="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74" name=""/>
          <p:cNvCxnSpPr>
            <a:stCxn xmlns:a="http://schemas.openxmlformats.org/drawingml/2006/main" id="10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6858000" y="61150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75" name=""/>
          <p:cNvCxnSpPr>
            <a:stCxn xmlns:a="http://schemas.openxmlformats.org/drawingml/2006/main" id="9" idx="0"/>
            <a:endCxn xmlns:a="http://schemas.openxmlformats.org/drawingml/2006/main" id="8" idx="2"/>
          </p:cNvCxnSpPr>
          <p:nvPr/>
        </p:nvCxnSpPr>
        <p:spPr>
          <a:xfrm xmlns:a="http://schemas.openxmlformats.org/drawingml/2006/main" flipV="1">
            <a:off x="6858000" y="50863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76" name=""/>
          <p:cNvCxnSpPr>
            <a:stCxn xmlns:a="http://schemas.openxmlformats.org/drawingml/2006/main" id="8" idx="0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6858000" y="4219575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77" name=""/>
          <p:cNvCxnSpPr>
            <a:stCxn xmlns:a="http://schemas.openxmlformats.org/drawingml/2006/main" id="7" idx="0"/>
            <a:endCxn xmlns:a="http://schemas.openxmlformats.org/drawingml/2006/main" id="6" idx="2"/>
          </p:cNvCxnSpPr>
          <p:nvPr/>
        </p:nvCxnSpPr>
        <p:spPr>
          <a:xfrm xmlns:a="http://schemas.openxmlformats.org/drawingml/2006/main" flipV="1">
            <a:off x="6858000" y="3343275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6" idx="0"/>
            <a:endCxn xmlns:a="http://schemas.openxmlformats.org/drawingml/2006/main" id="5" idx="2"/>
          </p:cNvCxnSpPr>
          <p:nvPr/>
        </p:nvCxnSpPr>
        <p:spPr>
          <a:xfrm xmlns:a="http://schemas.openxmlformats.org/drawingml/2006/main" flipV="1">
            <a:off x="6858000" y="2305050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79" name=""/>
          <p:cNvCxnSpPr>
            <a:stCxn xmlns:a="http://schemas.openxmlformats.org/drawingml/2006/main" id="5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6858000" y="137160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5EFBD8-F4D9-481B-A494-0B6EC911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ConvFrequencyBlock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195114-F33B-4D32-9314-79F965EA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115175"/>
            <a:ext cx="2714625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Conv2D 3 × 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3EE38E-3FC0-46F9-9A87-D7B0629A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2714625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GroupNorm (8 groups)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F078AE-7CDD-462F-A204-A38AAD5E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43575"/>
            <a:ext cx="2714625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SiLU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819B94-BF67-47B7-B9CE-DA91B197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57775"/>
            <a:ext cx="2714625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AvgPool2D (1 × 2)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BF8E9C-50F1-4716-8C69-169D6D31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71975"/>
            <a:ext cx="2714625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Dropout2D (0.2)</a:t>
            </a:r>
          </a:p>
        </p:txBody>
      </p:sp>
      <p:cxnSp>
        <p:nvCxnSpPr>
          <p:cNvPr id="86" name=""/>
          <p:cNvCxnSpPr>
            <a:stCxn xmlns:a="http://schemas.openxmlformats.org/drawingml/2006/main" id="26" idx="0"/>
            <a:endCxn xmlns:a="http://schemas.openxmlformats.org/drawingml/2006/main" id="27" idx="2"/>
          </p:cNvCxnSpPr>
          <p:nvPr/>
        </p:nvCxnSpPr>
        <p:spPr>
          <a:xfrm xmlns:a="http://schemas.openxmlformats.org/drawingml/2006/main" flipV="1">
            <a:off x="2071688" y="68865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87" name=""/>
          <p:cNvCxnSpPr>
            <a:stCxn xmlns:a="http://schemas.openxmlformats.org/drawingml/2006/main" id="27" idx="0"/>
            <a:endCxn xmlns:a="http://schemas.openxmlformats.org/drawingml/2006/main" id="28" idx="2"/>
          </p:cNvCxnSpPr>
          <p:nvPr/>
        </p:nvCxnSpPr>
        <p:spPr>
          <a:xfrm xmlns:a="http://schemas.openxmlformats.org/drawingml/2006/main" flipV="1">
            <a:off x="2071688" y="62007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88" name=""/>
          <p:cNvCxnSpPr>
            <a:stCxn xmlns:a="http://schemas.openxmlformats.org/drawingml/2006/main" id="28" idx="0"/>
            <a:endCxn xmlns:a="http://schemas.openxmlformats.org/drawingml/2006/main" id="29" idx="2"/>
          </p:cNvCxnSpPr>
          <p:nvPr/>
        </p:nvCxnSpPr>
        <p:spPr>
          <a:xfrm xmlns:a="http://schemas.openxmlformats.org/drawingml/2006/main" flipV="1">
            <a:off x="2071688" y="55149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89" name=""/>
          <p:cNvCxnSpPr>
            <a:stCxn xmlns:a="http://schemas.openxmlformats.org/drawingml/2006/main" id="29" idx="0"/>
            <a:endCxn xmlns:a="http://schemas.openxmlformats.org/drawingml/2006/main" id="30" idx="2"/>
          </p:cNvCxnSpPr>
          <p:nvPr/>
        </p:nvCxnSpPr>
        <p:spPr>
          <a:xfrm xmlns:a="http://schemas.openxmlformats.org/drawingml/2006/main" flipV="1">
            <a:off x="2071688" y="48291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7E06CB-8CDC-4BFF-832D-D5F3B63A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81264">
            <a:off x="2361923" y="5848350"/>
            <a:ext cx="32771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dash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4954D2-A396-492B-BB9B-D92AEF2C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56866">
            <a:off x="3459920" y="7781925"/>
            <a:ext cx="10811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dash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99E343-EEF2-4858-A7BB-0D4A7A37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14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Channels: 1 → 32 → 64 → 96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Mel bins: 64 → 32 → 16 → 8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Time resolution T is preserved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CC2181-F921-4CBD-995C-074FE9D6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7134225"/>
            <a:ext cx="28575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Target-class one-hot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[B, 527]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C54E78-E2D6-4F28-8F98-280419FB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029325"/>
            <a:ext cx="28575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Learned embedding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[527, 128]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0A714D-0520-4C2B-8671-33C42665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24425"/>
            <a:ext cx="28575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Expand across time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[B, T, 128]</a:t>
            </a:r>
          </a:p>
        </p:txBody>
      </p:sp>
      <p:cxnSp>
        <p:nvCxnSpPr>
          <p:cNvPr id="96" name=""/>
          <p:cNvCxnSpPr>
            <a:stCxn xmlns:a="http://schemas.openxmlformats.org/drawingml/2006/main" id="38" idx="0"/>
            <a:endCxn xmlns:a="http://schemas.openxmlformats.org/drawingml/2006/main" id="39" idx="2"/>
          </p:cNvCxnSpPr>
          <p:nvPr/>
        </p:nvCxnSpPr>
        <p:spPr>
          <a:xfrm xmlns:a="http://schemas.openxmlformats.org/drawingml/2006/main" flipV="1">
            <a:off x="11525250" y="6677025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97" name=""/>
          <p:cNvCxnSpPr>
            <a:stCxn xmlns:a="http://schemas.openxmlformats.org/drawingml/2006/main" id="39" idx="0"/>
            <a:endCxn xmlns:a="http://schemas.openxmlformats.org/drawingml/2006/main" id="40" idx="2"/>
          </p:cNvCxnSpPr>
          <p:nvPr/>
        </p:nvCxnSpPr>
        <p:spPr>
          <a:xfrm xmlns:a="http://schemas.openxmlformats.org/drawingml/2006/main" flipV="1">
            <a:off x="11525250" y="5572125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98" name=""/>
          <p:cNvCxnSpPr>
            <a:stCxn xmlns:a="http://schemas.openxmlformats.org/drawingml/2006/main" id="40" idx="0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9144000" y="3962400"/>
            <a:ext cx="2381250" cy="96202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D69162-04D3-4E36-A08E-573A0586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915275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Class conditioning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5C6FFF-4D88-4238-A233-F81312C6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6192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Fusion detail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E000D9-7D19-4CB6-A4D2-85EBC5D1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524250"/>
            <a:ext cx="28575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Linear (384 → 256)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2470C2-ECE7-4C25-BE2E-C1D5E2CC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00375"/>
            <a:ext cx="28575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SiLU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130DAE-58EC-4824-81F9-F91F2FF3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76500"/>
            <a:ext cx="28575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LayerNorm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2D629F-53CD-4184-A633-B63DF7C7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952625"/>
            <a:ext cx="2857500" cy="3619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Dropout (0.2)</a:t>
            </a:r>
          </a:p>
        </p:txBody>
      </p:sp>
      <p:cxnSp>
        <p:nvCxnSpPr>
          <p:cNvPr id="105" name=""/>
          <p:cNvCxnSpPr>
            <a:stCxn xmlns:a="http://schemas.openxmlformats.org/drawingml/2006/main" id="46" idx="0"/>
            <a:endCxn xmlns:a="http://schemas.openxmlformats.org/drawingml/2006/main" id="47" idx="2"/>
          </p:cNvCxnSpPr>
          <p:nvPr/>
        </p:nvCxnSpPr>
        <p:spPr>
          <a:xfrm xmlns:a="http://schemas.openxmlformats.org/drawingml/2006/main" flipV="1">
            <a:off x="11525250" y="3362325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06" name=""/>
          <p:cNvCxnSpPr>
            <a:stCxn xmlns:a="http://schemas.openxmlformats.org/drawingml/2006/main" id="47" idx="0"/>
            <a:endCxn xmlns:a="http://schemas.openxmlformats.org/drawingml/2006/main" id="48" idx="2"/>
          </p:cNvCxnSpPr>
          <p:nvPr/>
        </p:nvCxnSpPr>
        <p:spPr>
          <a:xfrm xmlns:a="http://schemas.openxmlformats.org/drawingml/2006/main" flipV="1">
            <a:off x="11525250" y="2838450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cxnSp>
        <p:nvCxnSpPr>
          <p:cNvPr id="107" name=""/>
          <p:cNvCxnSpPr>
            <a:stCxn xmlns:a="http://schemas.openxmlformats.org/drawingml/2006/main" id="48" idx="0"/>
            <a:endCxn xmlns:a="http://schemas.openxmlformats.org/drawingml/2006/main" id="49" idx="2"/>
          </p:cNvCxnSpPr>
          <p:nvPr/>
        </p:nvCxnSpPr>
        <p:spPr>
          <a:xfrm xmlns:a="http://schemas.openxmlformats.org/drawingml/2006/main" flipV="1">
            <a:off x="11525250" y="2314575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  <a:tailEnd type="triangle" w="med" len="med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572543-4110-4468-9873-650C0AA4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508028">
            <a:off x="9053408" y="2314575"/>
            <a:ext cx="108605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dash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0FC8612-2670-48D9-88B3-14D87102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92698">
            <a:off x="9092557" y="3643313"/>
            <a:ext cx="100776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11111"/>
            </a:solidFill>
            <a:prstDash val="dash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57DE86C-BEA5-48B1-B887-70B0EF38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92868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16 kHz   /   64 Mel bins   /   32 ms window   /   16 ms hop</a:t>
            </a:r>
          </a:p>
        </p:txBody>
      </p:sp>
    </p:spTree>
    <p:extLst>
      <p:ext uri="{BB962C8B-B14F-4D97-AF65-F5344CB8AC3E}">
        <p14:creationId xmlns:p14="http://schemas.microsoft.com/office/powerpoint/2010/main" val="768770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2026-09-18T09:21:38.4100000Z</dcterms:created>
  <dcterms:modified xsi:type="dcterms:W3CDTF">2026-09-18T09:21:38.4100000Z</dcterms:modified>
</coreProperties>
</file>