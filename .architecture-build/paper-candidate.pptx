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c0fcb4666f143fd" /><Relationship Type="http://schemas.openxmlformats.org/officeDocument/2006/relationships/extended-properties" Target="/docProps/app.xml" Id="R12a6f1c7dc424f04" /><Relationship Type="http://schemas.openxmlformats.org/officeDocument/2006/relationships/officeDocument" Target="/ppt/presentation.xml" Id="R691bf8b0438447b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f0fbd4bf70f4b21"/>
  </p:sldMasterIdLst>
  <p:notesMasterIdLst>
    <p:notesMasterId xmlns:r="http://schemas.openxmlformats.org/officeDocument/2006/relationships" r:id="R5feb49cb4b5f4ee6"/>
  </p:notesMasterIdLst>
  <p:sldIdLst>
    <p:sldId xmlns:r="http://schemas.openxmlformats.org/officeDocument/2006/relationships" id="256" r:id="Rf52160dd3858497f"/>
  </p:sldIdLst>
  <p:sldSz cx="15240000" cy="1000125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cb05a902d0d4e42" /><Relationship Type="http://schemas.openxmlformats.org/officeDocument/2006/relationships/slideMaster" Target="/ppt/slideMasters/slideMaster1.xml" Id="Rcf0fbd4bf70f4b21" /><Relationship Type="http://schemas.openxmlformats.org/officeDocument/2006/relationships/notesMaster" Target="/ppt/notesMasters/notesMaster1.xml" Id="R5feb49cb4b5f4ee6" /><Relationship Type="http://schemas.openxmlformats.org/officeDocument/2006/relationships/presProps" Target="/ppt/presProps.xml" Id="Re1c79fae63cf4883" /><Relationship Type="http://schemas.openxmlformats.org/officeDocument/2006/relationships/tableStyles" Target="/ppt/tableStyles.xml" Id="R35c9aae6340149e4" /><Relationship Type="http://schemas.openxmlformats.org/officeDocument/2006/relationships/slide" Target="/ppt/slides/slide1.xml" Id="Rf52160dd3858497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e5b37d457284b2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85cadd5c5e54613" /><Relationship Type="http://schemas.openxmlformats.org/officeDocument/2006/relationships/notesMaster" Target="/ppt/notesMasters/notesMaster1.xml" Id="Rcf27d68ae8f1413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https://arxiv.org/pdf/2005.00878 (v2), Fig. 1, Section III and Sections IV–V. Redrawn method diagram. Mask applies to the negative BCE term. Internal AudioSet includes explicit/implicit label metadata.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026c956cda44f6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d4d27bf6f8c44c4" /><Relationship Type="http://schemas.openxmlformats.org/officeDocument/2006/relationships/slideLayout" Target="/ppt/slideLayouts/slideLayout1.xml" Id="Rac5504805fae4e0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c5504805fae4e0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3db8ce7421417f" /><Relationship Type="http://schemas.openxmlformats.org/officeDocument/2006/relationships/notesSlide" Target="/ppt/notesSlides/notesSlide1.xml" Id="R4121a90139ec4df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85414A6-B4E5-4695-91C5-0943E7ABC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247650"/>
            <a:ext cx="1428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76200" tIns="28575" rIns="76200" bIns="2857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Teacher–student framework with loss masking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2CB293-3B74-4EDB-9B56-4D897E32E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714500"/>
            <a:ext cx="4857750" cy="7477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E3645A-3D96-42DA-9176-2D906C4FB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714500"/>
            <a:ext cx="4857750" cy="7477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0C6D02-AD6D-4316-83B8-C0222CE2A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190875"/>
            <a:ext cx="4000500" cy="504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B12AB0-7F0D-4407-8890-3BC7DFF62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66900"/>
            <a:ext cx="447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76200" tIns="28575" rIns="76200" bIns="2857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1. Teacher &amp; label screening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4034D6-F892-4DDB-9096-63F2BCCD8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1847850"/>
            <a:ext cx="2095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76200" tIns="28575" rIns="76200" bIns="2857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2. Student</a:t>
            </a:r>
          </a:p>
          <a:p xmlns:a="http://schemas.openxmlformats.org/drawingml/2006/main">
            <a:pPr algn="l">
              <a:defRPr sz="18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training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5A3F9D-A74B-4551-BFC9-24490DBB2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238500"/>
            <a:ext cx="4191000" cy="619125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111111"/>
            </a:solidFill>
          </a:ln>
        </p:spPr>
        <p:txBody>
          <a:bodyPr xmlns:a="http://schemas.openxmlformats.org/drawingml/2006/main" lIns="76200" tIns="28575" rIns="76200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Flag top-scored implicit negatives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4D716B-2714-427E-BF8C-B638E7378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305300"/>
            <a:ext cx="4191000" cy="619125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111111"/>
            </a:solidFill>
          </a:ln>
        </p:spPr>
        <p:txBody>
          <a:bodyPr xmlns:a="http://schemas.openxmlformats.org/drawingml/2006/main" lIns="76200" tIns="28575" rIns="76200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Rank implicit negatives per class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01F36C-C4DB-44A5-B51F-401AC74EC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372100"/>
            <a:ext cx="4191000" cy="619125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111111"/>
            </a:solidFill>
          </a:ln>
        </p:spPr>
        <p:txBody>
          <a:bodyPr xmlns:a="http://schemas.openxmlformats.org/drawingml/2006/main" lIns="76200" tIns="28575" rIns="76200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Predict training-set scores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4EE265-2750-429F-B93C-282907CAF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6438900"/>
            <a:ext cx="4191000" cy="723900"/>
          </a:xfrm>
          <a:prstGeom xmlns:a="http://schemas.openxmlformats.org/drawingml/2006/main" prst="roundRect">
            <a:avLst>
              <a:gd name="adj" fmla="val 1315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111111"/>
            </a:solidFill>
          </a:ln>
        </p:spPr>
        <p:txBody>
          <a:bodyPr xmlns:a="http://schemas.openxmlformats.org/drawingml/2006/main" lIns="76200" tIns="28575" rIns="76200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Train ResNet-50 teacher</a:t>
            </a:r>
          </a:p>
          <a:p xmlns:a="http://schemas.openxmlformats.org/drawingml/2006/main">
            <a:pPr algn="ctr">
              <a:defRPr sz="18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Original labels + BCE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EDA2C9A-4FFF-44F1-B0CD-F5595C653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7610475"/>
            <a:ext cx="4191000" cy="542925"/>
          </a:xfrm>
          <a:prstGeom xmlns:a="http://schemas.openxmlformats.org/drawingml/2006/main" prst="roundRect">
            <a:avLst>
              <a:gd name="adj" fmla="val 175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111111"/>
            </a:solidFill>
          </a:ln>
        </p:spPr>
        <p:txBody>
          <a:bodyPr xmlns:a="http://schemas.openxmlformats.org/drawingml/2006/main" lIns="76200" tIns="28575" rIns="76200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Log-Mel patches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70DA6B-9083-44F5-A6D2-833B46202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8639175"/>
            <a:ext cx="4191000" cy="542925"/>
          </a:xfrm>
          <a:prstGeom xmlns:a="http://schemas.openxmlformats.org/drawingml/2006/main" prst="roundRect">
            <a:avLst>
              <a:gd name="adj" fmla="val 175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111111"/>
            </a:solidFill>
          </a:ln>
        </p:spPr>
        <p:txBody>
          <a:bodyPr xmlns:a="http://schemas.openxmlformats.org/drawingml/2006/main" lIns="76200" tIns="28575" rIns="76200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Training audio + original labels y</a:t>
            </a:r>
          </a:p>
        </p:txBody>
      </p:sp>
      <p:cxnSp>
        <p:nvCxnSpPr>
          <p:cNvPr id="55" name=""/>
          <p:cNvCxnSpPr>
            <a:stCxn xmlns:a="http://schemas.openxmlformats.org/drawingml/2006/main" id="12" idx="0"/>
            <a:endCxn xmlns:a="http://schemas.openxmlformats.org/drawingml/2006/main" id="11" idx="2"/>
          </p:cNvCxnSpPr>
          <p:nvPr/>
        </p:nvCxnSpPr>
        <p:spPr>
          <a:xfrm xmlns:a="http://schemas.openxmlformats.org/drawingml/2006/main" flipV="1">
            <a:off x="2809875" y="8153400"/>
            <a:ext cx="0" cy="4857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11111"/>
            </a:solidFill>
            <a:prstDash val="solid"/>
            <a:tailEnd type="triangle" w="med" len="med"/>
          </a:ln>
        </p:spPr>
      </p:cxnSp>
      <p:cxnSp>
        <p:nvCxnSpPr>
          <p:cNvPr id="56" name=""/>
          <p:cNvCxnSpPr>
            <a:stCxn xmlns:a="http://schemas.openxmlformats.org/drawingml/2006/main" id="11" idx="0"/>
            <a:endCxn xmlns:a="http://schemas.openxmlformats.org/drawingml/2006/main" id="10" idx="2"/>
          </p:cNvCxnSpPr>
          <p:nvPr/>
        </p:nvCxnSpPr>
        <p:spPr>
          <a:xfrm xmlns:a="http://schemas.openxmlformats.org/drawingml/2006/main" flipV="1">
            <a:off x="2809875" y="7162800"/>
            <a:ext cx="0" cy="4476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11111"/>
            </a:solidFill>
            <a:prstDash val="solid"/>
            <a:tailEnd type="triangle" w="med" len="med"/>
          </a:ln>
        </p:spPr>
      </p:cxnSp>
      <p:cxnSp>
        <p:nvCxnSpPr>
          <p:cNvPr id="57" name=""/>
          <p:cNvCxnSpPr>
            <a:stCxn xmlns:a="http://schemas.openxmlformats.org/drawingml/2006/main" id="10" idx="0"/>
            <a:endCxn xmlns:a="http://schemas.openxmlformats.org/drawingml/2006/main" id="9" idx="2"/>
          </p:cNvCxnSpPr>
          <p:nvPr/>
        </p:nvCxnSpPr>
        <p:spPr>
          <a:xfrm xmlns:a="http://schemas.openxmlformats.org/drawingml/2006/main" flipV="1">
            <a:off x="2809875" y="5991225"/>
            <a:ext cx="0" cy="4476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11111"/>
            </a:solidFill>
            <a:prstDash val="solid"/>
            <a:tailEnd type="triangle" w="med" len="med"/>
          </a:ln>
        </p:spPr>
      </p:cxnSp>
      <p:cxnSp>
        <p:nvCxnSpPr>
          <p:cNvPr id="58" name=""/>
          <p:cNvCxnSpPr>
            <a:stCxn xmlns:a="http://schemas.openxmlformats.org/drawingml/2006/main" id="9" idx="0"/>
            <a:endCxn xmlns:a="http://schemas.openxmlformats.org/drawingml/2006/main" id="8" idx="2"/>
          </p:cNvCxnSpPr>
          <p:nvPr/>
        </p:nvCxnSpPr>
        <p:spPr>
          <a:xfrm xmlns:a="http://schemas.openxmlformats.org/drawingml/2006/main" flipV="1">
            <a:off x="2809875" y="4924425"/>
            <a:ext cx="0" cy="4476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11111"/>
            </a:solidFill>
            <a:prstDash val="solid"/>
            <a:tailEnd type="triangle" w="med" len="med"/>
          </a:ln>
        </p:spPr>
      </p:cxnSp>
      <p:cxnSp>
        <p:nvCxnSpPr>
          <p:cNvPr id="59" name=""/>
          <p:cNvCxnSpPr>
            <a:stCxn xmlns:a="http://schemas.openxmlformats.org/drawingml/2006/main" id="8" idx="0"/>
            <a:endCxn xmlns:a="http://schemas.openxmlformats.org/drawingml/2006/main" id="7" idx="2"/>
          </p:cNvCxnSpPr>
          <p:nvPr/>
        </p:nvCxnSpPr>
        <p:spPr>
          <a:xfrm xmlns:a="http://schemas.openxmlformats.org/drawingml/2006/main" flipV="1">
            <a:off x="2809875" y="3857625"/>
            <a:ext cx="0" cy="4476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11111"/>
            </a:solidFill>
            <a:prstDash val="solid"/>
            <a:tailEnd type="triangle" w="med" len="med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314636C-8CCB-45DD-A55F-35DB76A3A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3238500"/>
            <a:ext cx="3524250" cy="819150"/>
          </a:xfrm>
          <a:prstGeom xmlns:a="http://schemas.openxmlformats.org/drawingml/2006/main" prst="roundRect">
            <a:avLst>
              <a:gd name="adj" fmla="val 1162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111111"/>
            </a:solidFill>
          </a:ln>
        </p:spPr>
        <p:txBody>
          <a:bodyPr xmlns:a="http://schemas.openxmlformats.org/drawingml/2006/main" lIns="76200" tIns="28575" rIns="76200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Enhanced labels</a:t>
            </a:r>
          </a:p>
          <a:p xmlns:a="http://schemas.openxmlformats.org/drawingml/2006/main">
            <a:pPr algn="ctr">
              <a:defRPr sz="17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positive / negative / ignored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B6F5B19-E929-4355-93D2-3339F1328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2381250"/>
            <a:ext cx="3524250" cy="628650"/>
          </a:xfrm>
          <a:prstGeom xmlns:a="http://schemas.openxmlformats.org/drawingml/2006/main" prst="roundRect">
            <a:avLst>
              <a:gd name="adj" fmla="val 1515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111111"/>
            </a:solidFill>
          </a:ln>
        </p:spPr>
        <p:txBody>
          <a:bodyPr xmlns:a="http://schemas.openxmlformats.org/drawingml/2006/main" lIns="76200" tIns="28575" rIns="76200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Targets y + binary mask M</a:t>
            </a:r>
          </a:p>
          <a:p xmlns:a="http://schemas.openxmlformats.org/drawingml/2006/main">
            <a:pPr algn="ctr">
              <a:defRPr sz="17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0: flagged    1: otherwise</a:t>
            </a:r>
          </a:p>
        </p:txBody>
      </p:sp>
      <p:cxnSp>
        <p:nvCxnSpPr>
          <p:cNvPr id="62" name=""/>
          <p:cNvCxnSpPr>
            <a:stCxn xmlns:a="http://schemas.openxmlformats.org/drawingml/2006/main" id="7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4905375" y="3548063"/>
            <a:ext cx="952500" cy="100013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11111"/>
            </a:solidFill>
            <a:prstDash val="solid"/>
            <a:tailEnd type="triangle" w="med" len="med"/>
          </a:ln>
        </p:spPr>
      </p:cxnSp>
      <p:cxnSp>
        <p:nvCxnSpPr>
          <p:cNvPr id="63" name=""/>
          <p:cNvCxnSpPr>
            <a:stCxn xmlns:a="http://schemas.openxmlformats.org/drawingml/2006/main" id="18" idx="0"/>
            <a:endCxn xmlns:a="http://schemas.openxmlformats.org/drawingml/2006/main" id="19" idx="2"/>
          </p:cNvCxnSpPr>
          <p:nvPr/>
        </p:nvCxnSpPr>
        <p:spPr>
          <a:xfrm xmlns:a="http://schemas.openxmlformats.org/drawingml/2006/main" flipV="1">
            <a:off x="7620000" y="3009900"/>
            <a:ext cx="0" cy="2286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11111"/>
            </a:solidFill>
            <a:prstDash val="solid"/>
            <a:tailEnd type="triangle" w="med" len="med"/>
          </a:ln>
        </p:spPr>
      </p:cxn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5AA6EF3-707C-449D-B4C0-E1D0662DE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590800"/>
            <a:ext cx="4286250" cy="1257300"/>
          </a:xfrm>
          <a:prstGeom xmlns:a="http://schemas.openxmlformats.org/drawingml/2006/main" prst="roundRect">
            <a:avLst>
              <a:gd name="adj" fmla="val 757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111111"/>
            </a:solidFill>
          </a:ln>
        </p:spPr>
        <p:txBody>
          <a:bodyPr xmlns:a="http://schemas.openxmlformats.org/drawingml/2006/main" lIns="76200" tIns="28575" rIns="76200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Masked BCE</a:t>
            </a:r>
          </a:p>
          <a:p xmlns:a="http://schemas.openxmlformats.org/drawingml/2006/main">
            <a:pPr algn="ctr">
              <a:defRPr sz="18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−Σc [yc log(pc)</a:t>
            </a:r>
          </a:p>
          <a:p xmlns:a="http://schemas.openxmlformats.org/drawingml/2006/main">
            <a:pPr algn="ctr">
              <a:defRPr sz="18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+ Mc(1 − yc) log(1 − pc)]</a:t>
            </a:r>
          </a:p>
        </p:txBody>
      </p:sp>
      <p:cxnSp>
        <p:nvCxnSpPr>
          <p:cNvPr id="65" name=""/>
          <p:cNvCxnSpPr>
            <a:stCxn xmlns:a="http://schemas.openxmlformats.org/drawingml/2006/main" id="19" idx="3"/>
            <a:endCxn xmlns:a="http://schemas.openxmlformats.org/drawingml/2006/main" id="22" idx="1"/>
          </p:cNvCxnSpPr>
          <p:nvPr/>
        </p:nvCxnSpPr>
        <p:spPr>
          <a:xfrm xmlns:a="http://schemas.openxmlformats.org/drawingml/2006/main">
            <a:off x="9382125" y="2695575"/>
            <a:ext cx="904875" cy="5238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111111"/>
            </a:solidFill>
            <a:prstDash val="solid"/>
            <a:tailEnd type="triangle" w="med" len="med"/>
          </a:ln>
        </p:spPr>
      </p:cxn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7CE4577-6C02-40DE-B91A-EABCE44CD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981075"/>
            <a:ext cx="3619500" cy="533400"/>
          </a:xfrm>
          <a:prstGeom xmlns:a="http://schemas.openxmlformats.org/drawingml/2006/main" prst="roundRect">
            <a:avLst>
              <a:gd name="adj" fmla="val 178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111111"/>
            </a:solidFill>
          </a:ln>
        </p:spPr>
        <p:txBody>
          <a:bodyPr xmlns:a="http://schemas.openxmlformats.org/drawingml/2006/main" lIns="76200" tIns="28575" rIns="76200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Trained student</a:t>
            </a:r>
          </a:p>
        </p:txBody>
      </p:sp>
      <p:cxnSp>
        <p:nvCxnSpPr>
          <p:cNvPr id="67" name=""/>
          <p:cNvCxnSpPr>
            <a:stCxn xmlns:a="http://schemas.openxmlformats.org/drawingml/2006/main" id="22" idx="0"/>
            <a:endCxn xmlns:a="http://schemas.openxmlformats.org/drawingml/2006/main" id="24" idx="2"/>
          </p:cNvCxnSpPr>
          <p:nvPr/>
        </p:nvCxnSpPr>
        <p:spPr>
          <a:xfrm xmlns:a="http://schemas.openxmlformats.org/drawingml/2006/main" flipV="1">
            <a:off x="12430125" y="1514475"/>
            <a:ext cx="0" cy="10763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11111"/>
            </a:solidFill>
            <a:prstDash val="solid"/>
            <a:tailEnd type="triangle" w="med" len="med"/>
          </a:ln>
        </p:spPr>
      </p:cxn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E908D11-B7FD-4ED3-B316-3E40BF93F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476750"/>
            <a:ext cx="4286250" cy="628650"/>
          </a:xfrm>
          <a:prstGeom xmlns:a="http://schemas.openxmlformats.org/drawingml/2006/main" prst="roundRect">
            <a:avLst>
              <a:gd name="adj" fmla="val 1515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111111"/>
            </a:solidFill>
          </a:ln>
        </p:spPr>
        <p:txBody>
          <a:bodyPr xmlns:a="http://schemas.openxmlformats.org/drawingml/2006/main" lIns="76200" tIns="28575" rIns="76200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Student class probabilities pc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5D58030-D833-43E8-8C25-825BD9978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5819775"/>
            <a:ext cx="4286250" cy="800100"/>
          </a:xfrm>
          <a:prstGeom xmlns:a="http://schemas.openxmlformats.org/drawingml/2006/main" prst="roundRect">
            <a:avLst>
              <a:gd name="adj" fmla="val 119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111111"/>
            </a:solidFill>
          </a:ln>
        </p:spPr>
        <p:txBody>
          <a:bodyPr xmlns:a="http://schemas.openxmlformats.org/drawingml/2006/main" lIns="76200" tIns="28575" rIns="76200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Student CNN</a:t>
            </a:r>
          </a:p>
          <a:p xmlns:a="http://schemas.openxmlformats.org/drawingml/2006/main">
            <a:pPr algn="ctr">
              <a:defRPr sz="18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ResNet-50 or MobileNetV1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09D5FC8-3797-43F5-83CB-64D94838B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7524750"/>
            <a:ext cx="4286250" cy="628650"/>
          </a:xfrm>
          <a:prstGeom xmlns:a="http://schemas.openxmlformats.org/drawingml/2006/main" prst="roundRect">
            <a:avLst>
              <a:gd name="adj" fmla="val 1515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111111"/>
            </a:solidFill>
          </a:ln>
        </p:spPr>
        <p:txBody>
          <a:bodyPr xmlns:a="http://schemas.openxmlformats.org/drawingml/2006/main" lIns="76200" tIns="28575" rIns="76200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Log-Mel patches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F017FA9-974C-4369-972F-A733F6D2C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8639175"/>
            <a:ext cx="4286250" cy="542925"/>
          </a:xfrm>
          <a:prstGeom xmlns:a="http://schemas.openxmlformats.org/drawingml/2006/main" prst="roundRect">
            <a:avLst>
              <a:gd name="adj" fmla="val 175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111111"/>
            </a:solidFill>
          </a:ln>
        </p:spPr>
        <p:txBody>
          <a:bodyPr xmlns:a="http://schemas.openxmlformats.org/drawingml/2006/main" lIns="76200" tIns="28575" rIns="76200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Training audio</a:t>
            </a:r>
          </a:p>
        </p:txBody>
      </p:sp>
      <p:cxnSp>
        <p:nvCxnSpPr>
          <p:cNvPr id="72" name=""/>
          <p:cNvCxnSpPr>
            <a:stCxn xmlns:a="http://schemas.openxmlformats.org/drawingml/2006/main" id="29" idx="0"/>
            <a:endCxn xmlns:a="http://schemas.openxmlformats.org/drawingml/2006/main" id="28" idx="2"/>
          </p:cNvCxnSpPr>
          <p:nvPr/>
        </p:nvCxnSpPr>
        <p:spPr>
          <a:xfrm xmlns:a="http://schemas.openxmlformats.org/drawingml/2006/main" flipV="1">
            <a:off x="12430125" y="8153400"/>
            <a:ext cx="0" cy="4857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11111"/>
            </a:solidFill>
            <a:prstDash val="solid"/>
            <a:tailEnd type="triangle" w="med" len="med"/>
          </a:ln>
        </p:spPr>
      </p:cxnSp>
      <p:cxnSp>
        <p:nvCxnSpPr>
          <p:cNvPr id="73" name=""/>
          <p:cNvCxnSpPr>
            <a:stCxn xmlns:a="http://schemas.openxmlformats.org/drawingml/2006/main" id="28" idx="0"/>
            <a:endCxn xmlns:a="http://schemas.openxmlformats.org/drawingml/2006/main" id="27" idx="2"/>
          </p:cNvCxnSpPr>
          <p:nvPr/>
        </p:nvCxnSpPr>
        <p:spPr>
          <a:xfrm xmlns:a="http://schemas.openxmlformats.org/drawingml/2006/main" flipV="1">
            <a:off x="12430125" y="6619875"/>
            <a:ext cx="0" cy="9048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11111"/>
            </a:solidFill>
            <a:prstDash val="solid"/>
            <a:tailEnd type="triangle" w="med" len="med"/>
          </a:ln>
        </p:spPr>
      </p:cxnSp>
      <p:cxnSp>
        <p:nvCxnSpPr>
          <p:cNvPr id="74" name=""/>
          <p:cNvCxnSpPr>
            <a:stCxn xmlns:a="http://schemas.openxmlformats.org/drawingml/2006/main" id="27" idx="0"/>
            <a:endCxn xmlns:a="http://schemas.openxmlformats.org/drawingml/2006/main" id="26" idx="2"/>
          </p:cNvCxnSpPr>
          <p:nvPr/>
        </p:nvCxnSpPr>
        <p:spPr>
          <a:xfrm xmlns:a="http://schemas.openxmlformats.org/drawingml/2006/main" flipV="1">
            <a:off x="12430125" y="5105400"/>
            <a:ext cx="0" cy="7143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11111"/>
            </a:solidFill>
            <a:prstDash val="solid"/>
            <a:tailEnd type="triangle" w="med" len="med"/>
          </a:ln>
        </p:spPr>
      </p:cxnSp>
      <p:cxnSp>
        <p:nvCxnSpPr>
          <p:cNvPr id="75" name=""/>
          <p:cNvCxnSpPr>
            <a:stCxn xmlns:a="http://schemas.openxmlformats.org/drawingml/2006/main" id="26" idx="0"/>
            <a:endCxn xmlns:a="http://schemas.openxmlformats.org/drawingml/2006/main" id="22" idx="2"/>
          </p:cNvCxnSpPr>
          <p:nvPr/>
        </p:nvCxnSpPr>
        <p:spPr>
          <a:xfrm xmlns:a="http://schemas.openxmlformats.org/drawingml/2006/main" flipV="1">
            <a:off x="12430125" y="3848100"/>
            <a:ext cx="0" cy="6286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11111"/>
            </a:solidFill>
            <a:prstDash val="solid"/>
            <a:tailEnd type="triangle" w="med" len="med"/>
          </a:ln>
        </p:spPr>
      </p:cxn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57619C3-63FF-4D49-9945-8AF7680B7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0" y="1552575"/>
            <a:ext cx="2143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76200" tIns="28575" rIns="76200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Backpropagation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4009B0D-64CB-4EA6-B7DB-B6BC75DCD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8825" y="4953000"/>
            <a:ext cx="3524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76200" tIns="28575" rIns="76200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Per-class threshold tc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0963BAD-28FD-40FF-B6C3-5E9011B35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429250"/>
            <a:ext cx="3619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76200" tIns="28575" rIns="76200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Select a percentile of teacher</a:t>
            </a:r>
          </a:p>
          <a:p xmlns:a="http://schemas.openxmlformats.org/drawingml/2006/main">
            <a:pPr algn="ctr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scores on implicit negatives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0386A36-1FA2-48D2-89C7-D7A555E44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6400800"/>
            <a:ext cx="3524250" cy="533400"/>
          </a:xfrm>
          <a:prstGeom xmlns:a="http://schemas.openxmlformats.org/drawingml/2006/main" prst="roundRect">
            <a:avLst>
              <a:gd name="adj" fmla="val 178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111111"/>
            </a:solidFill>
          </a:ln>
        </p:spPr>
        <p:txBody>
          <a:bodyPr xmlns:a="http://schemas.openxmlformats.org/drawingml/2006/main" lIns="76200" tIns="28575" rIns="76200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Flag when score &gt; tc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F69F7BC-C814-4A94-8D04-C2F3718A7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7248525"/>
            <a:ext cx="3619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76200" tIns="28575" rIns="76200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Explicit labels are retained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9DDF4A8-46AC-4354-8B6D-515AF8198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444770">
            <a:off x="4853958" y="4667250"/>
            <a:ext cx="817209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111111"/>
            </a:solidFill>
            <a:prstDash val="dash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AC76E34-BBE3-4900-BE79-B2FA4C9C6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4696096">
            <a:off x="3740096" y="6319838"/>
            <a:ext cx="304493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111111"/>
            </a:solidFill>
            <a:prstDash val="dash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D874B01-8A3F-4C29-B418-2381A82F1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9334500"/>
            <a:ext cx="1419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76200" tIns="28575" rIns="76200" bIns="2857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Front end: 64 Mel bands, 25 ms Hann window, 10 ms hop; 96-frame patches, 50% overlap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9E8E834-85CE-4CC4-9900-4322BE590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9658350"/>
            <a:ext cx="1419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76200" tIns="28575" rIns="76200" bIns="2857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Fonseca et al., IEEE SPL 27 (2020) 1235–1239.  DOI: 10.1109/LSP.2020.3006378</a:t>
            </a:r>
          </a:p>
        </p:txBody>
      </p:sp>
    </p:spTree>
    <p:extLst>
      <p:ext uri="{BB962C8B-B14F-4D97-AF65-F5344CB8AC3E}">
        <p14:creationId xmlns:p14="http://schemas.microsoft.com/office/powerpoint/2010/main" val="200235872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2026-09-21T07:53:12.2310000Z</dcterms:created>
  <dcterms:modified xsi:type="dcterms:W3CDTF">2026-09-21T07:53:12.2310000Z</dcterms:modified>
</coreProperties>
</file>